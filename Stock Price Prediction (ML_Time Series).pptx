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Caveat"/>
      <p:regular r:id="rId23"/>
      <p:bold r:id="rId24"/>
    </p:embeddedFont>
    <p:embeddedFont>
      <p:font typeface="Inter SemiBold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Outfit"/>
      <p:regular r:id="rId33"/>
      <p:bold r:id="rId34"/>
    </p:embeddedFont>
    <p:embeddedFont>
      <p:font typeface="Space Grotesk Light"/>
      <p:regular r:id="rId35"/>
      <p:bold r:id="rId36"/>
    </p:embeddedFont>
    <p:embeddedFont>
      <p:font typeface="Space Grotesk SemiBold"/>
      <p:regular r:id="rId37"/>
      <p:bold r:id="rId38"/>
    </p:embeddedFont>
    <p:embeddedFont>
      <p:font typeface="Space Grotesk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paceGrotesk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Caveat-bold.fntdata"/><Relationship Id="rId23" Type="http://schemas.openxmlformats.org/officeDocument/2006/relationships/font" Target="fonts/Cave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SemiBold-bold.fntdata"/><Relationship Id="rId25" Type="http://schemas.openxmlformats.org/officeDocument/2006/relationships/font" Target="fonts/InterSemiBold-regular.fntdata"/><Relationship Id="rId28" Type="http://schemas.openxmlformats.org/officeDocument/2006/relationships/font" Target="fonts/InterSemiBold-boldItalic.fntdata"/><Relationship Id="rId27" Type="http://schemas.openxmlformats.org/officeDocument/2006/relationships/font" Target="fonts/Inter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5.xml"/><Relationship Id="rId33" Type="http://schemas.openxmlformats.org/officeDocument/2006/relationships/font" Target="fonts/Outfit-regular.fntdata"/><Relationship Id="rId10" Type="http://schemas.openxmlformats.org/officeDocument/2006/relationships/slide" Target="slides/slide4.xml"/><Relationship Id="rId32" Type="http://schemas.openxmlformats.org/officeDocument/2006/relationships/font" Target="fonts/Inter-boldItalic.fntdata"/><Relationship Id="rId13" Type="http://schemas.openxmlformats.org/officeDocument/2006/relationships/slide" Target="slides/slide7.xml"/><Relationship Id="rId35" Type="http://schemas.openxmlformats.org/officeDocument/2006/relationships/font" Target="fonts/SpaceGroteskLight-regular.fntdata"/><Relationship Id="rId12" Type="http://schemas.openxmlformats.org/officeDocument/2006/relationships/slide" Target="slides/slide6.xml"/><Relationship Id="rId34" Type="http://schemas.openxmlformats.org/officeDocument/2006/relationships/font" Target="fonts/Outfit-bold.fntdata"/><Relationship Id="rId15" Type="http://schemas.openxmlformats.org/officeDocument/2006/relationships/slide" Target="slides/slide9.xml"/><Relationship Id="rId37" Type="http://schemas.openxmlformats.org/officeDocument/2006/relationships/font" Target="fonts/SpaceGroteskSemiBold-regular.fntdata"/><Relationship Id="rId14" Type="http://schemas.openxmlformats.org/officeDocument/2006/relationships/slide" Target="slides/slide8.xml"/><Relationship Id="rId36" Type="http://schemas.openxmlformats.org/officeDocument/2006/relationships/font" Target="fonts/SpaceGroteskLight-bold.fntdata"/><Relationship Id="rId17" Type="http://schemas.openxmlformats.org/officeDocument/2006/relationships/slide" Target="slides/slide11.xml"/><Relationship Id="rId39" Type="http://schemas.openxmlformats.org/officeDocument/2006/relationships/font" Target="fonts/SpaceGrotesk-regular.fntdata"/><Relationship Id="rId16" Type="http://schemas.openxmlformats.org/officeDocument/2006/relationships/slide" Target="slides/slide10.xml"/><Relationship Id="rId38" Type="http://schemas.openxmlformats.org/officeDocument/2006/relationships/font" Target="fonts/SpaceGroteskSemiBold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40d5a9e6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a40d5a9e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40d5a9e65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40d5a9e6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40d5a9e65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40d5a9e6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a40d5a9e65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a40d5a9e65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40d5a9e65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a40d5a9e6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11" Type="http://schemas.openxmlformats.org/officeDocument/2006/relationships/image" Target="../media/image17.png"/><Relationship Id="rId10" Type="http://schemas.openxmlformats.org/officeDocument/2006/relationships/image" Target="../media/image19.png"/><Relationship Id="rId12" Type="http://schemas.openxmlformats.org/officeDocument/2006/relationships/image" Target="../media/image4.png"/><Relationship Id="rId9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11" Type="http://schemas.openxmlformats.org/officeDocument/2006/relationships/image" Target="../media/image57.png"/><Relationship Id="rId10" Type="http://schemas.openxmlformats.org/officeDocument/2006/relationships/image" Target="../media/image30.png"/><Relationship Id="rId12" Type="http://schemas.openxmlformats.org/officeDocument/2006/relationships/image" Target="../media/image20.png"/><Relationship Id="rId9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2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jpg"/><Relationship Id="rId4" Type="http://schemas.openxmlformats.org/officeDocument/2006/relationships/image" Target="../media/image24.png"/><Relationship Id="rId5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31.png"/><Relationship Id="rId5" Type="http://schemas.openxmlformats.org/officeDocument/2006/relationships/image" Target="../media/image4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10.png"/><Relationship Id="rId5" Type="http://schemas.openxmlformats.org/officeDocument/2006/relationships/image" Target="../media/image52.png"/><Relationship Id="rId6" Type="http://schemas.openxmlformats.org/officeDocument/2006/relationships/image" Target="../media/image5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42.png"/><Relationship Id="rId11" Type="http://schemas.openxmlformats.org/officeDocument/2006/relationships/image" Target="../media/image36.png"/><Relationship Id="rId10" Type="http://schemas.openxmlformats.org/officeDocument/2006/relationships/image" Target="../media/image32.png"/><Relationship Id="rId12" Type="http://schemas.openxmlformats.org/officeDocument/2006/relationships/image" Target="../media/image58.png"/><Relationship Id="rId9" Type="http://schemas.openxmlformats.org/officeDocument/2006/relationships/image" Target="../media/image38.png"/><Relationship Id="rId5" Type="http://schemas.openxmlformats.org/officeDocument/2006/relationships/image" Target="../media/image51.png"/><Relationship Id="rId6" Type="http://schemas.openxmlformats.org/officeDocument/2006/relationships/image" Target="../media/image44.png"/><Relationship Id="rId7" Type="http://schemas.openxmlformats.org/officeDocument/2006/relationships/image" Target="../media/image34.png"/><Relationship Id="rId8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49.png"/><Relationship Id="rId5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image" Target="../media/image40.png"/><Relationship Id="rId5" Type="http://schemas.openxmlformats.org/officeDocument/2006/relationships/image" Target="../media/image60.png"/><Relationship Id="rId6" Type="http://schemas.openxmlformats.org/officeDocument/2006/relationships/image" Target="../media/image59.png"/><Relationship Id="rId7" Type="http://schemas.openxmlformats.org/officeDocument/2006/relationships/image" Target="../media/image4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10" Type="http://schemas.openxmlformats.org/officeDocument/2006/relationships/image" Target="../media/image50.png"/><Relationship Id="rId9" Type="http://schemas.openxmlformats.org/officeDocument/2006/relationships/image" Target="../media/image5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1.png"/><Relationship Id="rId8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1146869"/>
            <a:ext cx="7620000" cy="456411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/>
          <p:nvPr/>
        </p:nvSpPr>
        <p:spPr>
          <a:xfrm>
            <a:off x="2705576" y="1727894"/>
            <a:ext cx="6780847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Stock Price Prediction</a:t>
            </a:r>
            <a:endParaRPr/>
          </a:p>
        </p:txBody>
      </p:sp>
      <p:sp>
        <p:nvSpPr>
          <p:cNvPr id="162" name="Google Shape;162;p25"/>
          <p:cNvSpPr txBox="1"/>
          <p:nvPr/>
        </p:nvSpPr>
        <p:spPr>
          <a:xfrm>
            <a:off x="2705576" y="3426916"/>
            <a:ext cx="6780847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CBD5E1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Mastering the Market with ML &amp; Time Series</a:t>
            </a:r>
            <a:endParaRPr/>
          </a:p>
        </p:txBody>
      </p:sp>
      <p:sp>
        <p:nvSpPr>
          <p:cNvPr id="163" name="Google Shape;163;p25"/>
          <p:cNvSpPr txBox="1"/>
          <p:nvPr/>
        </p:nvSpPr>
        <p:spPr>
          <a:xfrm>
            <a:off x="2867025" y="4684216"/>
            <a:ext cx="6457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An Exploration of Algorithms, Architectures, and Accuracy</a:t>
            </a:r>
            <a:endParaRPr/>
          </a:p>
        </p:txBody>
      </p:sp>
      <p:sp>
        <p:nvSpPr>
          <p:cNvPr id="164" name="Google Shape;164;p25"/>
          <p:cNvSpPr txBox="1"/>
          <p:nvPr/>
        </p:nvSpPr>
        <p:spPr>
          <a:xfrm>
            <a:off x="7439875" y="4854600"/>
            <a:ext cx="4004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Made by-</a:t>
            </a:r>
            <a:endParaRPr b="1" i="1" sz="22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Yashwardhan Gour</a:t>
            </a:r>
            <a:endParaRPr b="1" i="1" sz="22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6"/>
          <p:cNvSpPr txBox="1"/>
          <p:nvPr/>
        </p:nvSpPr>
        <p:spPr>
          <a:xfrm>
            <a:off x="571500" y="2085975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Holy Grail of Finance</a:t>
            </a:r>
            <a:endParaRPr/>
          </a:p>
        </p:txBody>
      </p:sp>
      <p:sp>
        <p:nvSpPr>
          <p:cNvPr id="172" name="Google Shape;172;p26"/>
          <p:cNvSpPr txBox="1"/>
          <p:nvPr/>
        </p:nvSpPr>
        <p:spPr>
          <a:xfrm>
            <a:off x="571500" y="261937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Forecasting stock prices has long been considered one of the most challenging tasks in financial analysis due to the market's inherent volatility and complexity.</a:t>
            </a:r>
            <a:endParaRPr/>
          </a:p>
        </p:txBody>
      </p:sp>
      <p:sp>
        <p:nvSpPr>
          <p:cNvPr id="173" name="Google Shape;173;p26"/>
          <p:cNvSpPr txBox="1"/>
          <p:nvPr/>
        </p:nvSpPr>
        <p:spPr>
          <a:xfrm>
            <a:off x="571500" y="3914775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From Random Walks to Patterns</a:t>
            </a:r>
            <a:endParaRPr/>
          </a:p>
        </p:txBody>
      </p:sp>
      <p:sp>
        <p:nvSpPr>
          <p:cNvPr id="174" name="Google Shape;174;p26"/>
          <p:cNvSpPr txBox="1"/>
          <p:nvPr/>
        </p:nvSpPr>
        <p:spPr>
          <a:xfrm>
            <a:off x="571500" y="4448175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While the Efficient Market Hypothesis suggests prices reflect all information instantly, making prediction impossible (Random Walk), Machine Learning aims to identify non-linear patterns that traditional statistical methods might miss.</a:t>
            </a:r>
            <a:endParaRPr/>
          </a:p>
        </p:txBody>
      </p:sp>
      <p:pic>
        <p:nvPicPr>
          <p:cNvPr descr="image.png" id="175" name="Google Shape;17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90750"/>
            <a:ext cx="5219699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Predicting the Unpredictable</a:t>
            </a:r>
            <a:endParaRPr/>
          </a:p>
        </p:txBody>
      </p:sp>
      <p:sp>
        <p:nvSpPr>
          <p:cNvPr id="177" name="Google Shape;177;p26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76437"/>
            <a:ext cx="3492549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76437"/>
            <a:ext cx="3492549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76437"/>
            <a:ext cx="3492549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89075" y="227171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7"/>
          <p:cNvSpPr txBox="1"/>
          <p:nvPr/>
        </p:nvSpPr>
        <p:spPr>
          <a:xfrm>
            <a:off x="1197560" y="3319462"/>
            <a:ext cx="22402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Volatility &amp; Noise</a:t>
            </a:r>
            <a:endParaRPr/>
          </a:p>
        </p:txBody>
      </p:sp>
      <p:sp>
        <p:nvSpPr>
          <p:cNvPr id="188" name="Google Shape;188;p27"/>
          <p:cNvSpPr txBox="1"/>
          <p:nvPr/>
        </p:nvSpPr>
        <p:spPr>
          <a:xfrm>
            <a:off x="866775" y="39957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Financial data is notoriously noisy. Distinguishing between genuine market trends and random daily fluctuations is the primary hurdle for any algorithm.</a:t>
            </a:r>
            <a:endParaRPr/>
          </a:p>
        </p:txBody>
      </p:sp>
      <p:pic>
        <p:nvPicPr>
          <p:cNvPr descr="image.png" id="189" name="Google Shape;189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7375" y="227171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7"/>
          <p:cNvSpPr txBox="1"/>
          <p:nvPr/>
        </p:nvSpPr>
        <p:spPr>
          <a:xfrm>
            <a:off x="4955857" y="3319462"/>
            <a:ext cx="22802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Non-Stationarity</a:t>
            </a:r>
            <a:endParaRPr/>
          </a:p>
        </p:txBody>
      </p:sp>
      <p:sp>
        <p:nvSpPr>
          <p:cNvPr id="191" name="Google Shape;191;p27"/>
          <p:cNvSpPr txBox="1"/>
          <p:nvPr/>
        </p:nvSpPr>
        <p:spPr>
          <a:xfrm>
            <a:off x="4645074" y="39957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Statistical properties of stock data (mean, variance) change over time. A model trained on 2020's bull market may fail entirely in a bear market.</a:t>
            </a:r>
            <a:endParaRPr/>
          </a:p>
        </p:txBody>
      </p:sp>
      <p:pic>
        <p:nvPicPr>
          <p:cNvPr descr="image.png" id="192" name="Google Shape;192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45674" y="227171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7"/>
          <p:cNvSpPr txBox="1"/>
          <p:nvPr/>
        </p:nvSpPr>
        <p:spPr>
          <a:xfrm>
            <a:off x="8614142" y="3319462"/>
            <a:ext cx="25203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Black Swan Events</a:t>
            </a:r>
            <a:endParaRPr/>
          </a:p>
        </p:txBody>
      </p:sp>
      <p:sp>
        <p:nvSpPr>
          <p:cNvPr id="194" name="Google Shape;194;p27"/>
          <p:cNvSpPr txBox="1"/>
          <p:nvPr/>
        </p:nvSpPr>
        <p:spPr>
          <a:xfrm>
            <a:off x="8423374" y="39957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Unpredictable external events (geopolitics, pandemics) can cause massive shocks that no historical data-driven model can anticipate.</a:t>
            </a:r>
            <a:endParaRPr/>
          </a:p>
        </p:txBody>
      </p:sp>
      <p:pic>
        <p:nvPicPr>
          <p:cNvPr descr="image.png" id="195" name="Google Shape;195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31950" y="24717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10250" y="24717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88549" y="247173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Core Challenges in Forecasting</a:t>
            </a:r>
            <a:endParaRPr/>
          </a:p>
        </p:txBody>
      </p:sp>
      <p:sp>
        <p:nvSpPr>
          <p:cNvPr id="199" name="Google Shape;199;p27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33475"/>
            <a:ext cx="52387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133475"/>
            <a:ext cx="523875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29125"/>
            <a:ext cx="523875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429125"/>
            <a:ext cx="523875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8"/>
          <p:cNvSpPr txBox="1"/>
          <p:nvPr/>
        </p:nvSpPr>
        <p:spPr>
          <a:xfrm>
            <a:off x="962025" y="1524000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AutoRegressive (AR)</a:t>
            </a:r>
            <a:endParaRPr/>
          </a:p>
        </p:txBody>
      </p:sp>
      <p:sp>
        <p:nvSpPr>
          <p:cNvPr id="210" name="Google Shape;210;p28"/>
          <p:cNvSpPr txBox="1"/>
          <p:nvPr/>
        </p:nvSpPr>
        <p:spPr>
          <a:xfrm>
            <a:off x="962025" y="2057400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Uses the dependent relationship between an observation and some number of lagged observations. Essentially, it assumes past values influence future ones.</a:t>
            </a:r>
            <a:endParaRPr/>
          </a:p>
        </p:txBody>
      </p:sp>
      <p:sp>
        <p:nvSpPr>
          <p:cNvPr id="211" name="Google Shape;211;p28"/>
          <p:cNvSpPr txBox="1"/>
          <p:nvPr/>
        </p:nvSpPr>
        <p:spPr>
          <a:xfrm>
            <a:off x="6772275" y="1524000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Integrated (I)</a:t>
            </a:r>
            <a:endParaRPr/>
          </a:p>
        </p:txBody>
      </p:sp>
      <p:sp>
        <p:nvSpPr>
          <p:cNvPr id="212" name="Google Shape;212;p28"/>
          <p:cNvSpPr txBox="1"/>
          <p:nvPr/>
        </p:nvSpPr>
        <p:spPr>
          <a:xfrm>
            <a:off x="6772275" y="205740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Involves differencing the raw observations (e.g., subtracting the previous day's price) to make the time series stationary and remove trends.</a:t>
            </a:r>
            <a:endParaRPr/>
          </a:p>
        </p:txBody>
      </p:sp>
      <p:sp>
        <p:nvSpPr>
          <p:cNvPr id="213" name="Google Shape;213;p28"/>
          <p:cNvSpPr txBox="1"/>
          <p:nvPr/>
        </p:nvSpPr>
        <p:spPr>
          <a:xfrm>
            <a:off x="962025" y="4819650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Moving Average (MA)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962025" y="535305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Uses the dependency between an observation and a residual error from a moving average model applied to lagged observations.</a:t>
            </a:r>
            <a:endParaRPr/>
          </a:p>
        </p:txBody>
      </p:sp>
      <p:sp>
        <p:nvSpPr>
          <p:cNvPr id="215" name="Google Shape;215;p28"/>
          <p:cNvSpPr txBox="1"/>
          <p:nvPr/>
        </p:nvSpPr>
        <p:spPr>
          <a:xfrm>
            <a:off x="6772275" y="50101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Best for: Short-term forecasting on linear, stationary data.</a:t>
            </a:r>
            <a:endParaRPr/>
          </a:p>
        </p:txBody>
      </p:sp>
      <p:sp>
        <p:nvSpPr>
          <p:cNvPr id="216" name="Google Shape;216;p28"/>
          <p:cNvSpPr txBox="1"/>
          <p:nvPr/>
        </p:nvSpPr>
        <p:spPr>
          <a:xfrm>
            <a:off x="571500" y="9525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Traditional Method: ARIMA</a:t>
            </a:r>
            <a:endParaRPr/>
          </a:p>
        </p:txBody>
      </p:sp>
      <p:sp>
        <p:nvSpPr>
          <p:cNvPr id="217" name="Google Shape;217;p28"/>
          <p:cNvSpPr/>
          <p:nvPr/>
        </p:nvSpPr>
        <p:spPr>
          <a:xfrm>
            <a:off x="571500" y="7334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097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61925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9"/>
          <p:cNvSpPr txBox="1"/>
          <p:nvPr/>
        </p:nvSpPr>
        <p:spPr>
          <a:xfrm>
            <a:off x="904875" y="1762125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Handling Non-Linearity: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Unlike ARIMA, ML models (like Random Forest and Neural Networks) can capture complex, non-linear relationships in data.</a:t>
            </a:r>
            <a:endParaRPr/>
          </a:p>
        </p:txBody>
      </p:sp>
      <p:sp>
        <p:nvSpPr>
          <p:cNvPr id="226" name="Google Shape;226;p29"/>
          <p:cNvSpPr txBox="1"/>
          <p:nvPr/>
        </p:nvSpPr>
        <p:spPr>
          <a:xfrm>
            <a:off x="904875" y="2914650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High-Dimensionality: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ML can ingest hundreds of features—price, volume, sentiment, economic indicators—simultaneously.</a:t>
            </a:r>
            <a:endParaRPr/>
          </a:p>
        </p:txBody>
      </p:sp>
      <p:sp>
        <p:nvSpPr>
          <p:cNvPr id="227" name="Google Shape;227;p29"/>
          <p:cNvSpPr txBox="1"/>
          <p:nvPr/>
        </p:nvSpPr>
        <p:spPr>
          <a:xfrm>
            <a:off x="904875" y="4067175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Adaptability: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Deep learning models can technically "learn" new patterns as they are fed more data, though overfitting remains a risk.</a:t>
            </a:r>
            <a:endParaRPr/>
          </a:p>
        </p:txBody>
      </p:sp>
      <p:sp>
        <p:nvSpPr>
          <p:cNvPr id="228" name="Google Shape;228;p29"/>
          <p:cNvSpPr txBox="1"/>
          <p:nvPr/>
        </p:nvSpPr>
        <p:spPr>
          <a:xfrm>
            <a:off x="904875" y="5219700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Classification vs. Regression: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ML allows us to predict the exact price (Regression) or simply the direction of movement (Classification).</a:t>
            </a:r>
            <a:endParaRPr/>
          </a:p>
        </p:txBody>
      </p:sp>
      <p:sp>
        <p:nvSpPr>
          <p:cNvPr id="229" name="Google Shape;229;p29"/>
          <p:cNvSpPr txBox="1"/>
          <p:nvPr/>
        </p:nvSpPr>
        <p:spPr>
          <a:xfrm>
            <a:off x="571500" y="176212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➢</a:t>
            </a:r>
            <a:endParaRPr/>
          </a:p>
        </p:txBody>
      </p:sp>
      <p:sp>
        <p:nvSpPr>
          <p:cNvPr id="230" name="Google Shape;230;p29"/>
          <p:cNvSpPr txBox="1"/>
          <p:nvPr/>
        </p:nvSpPr>
        <p:spPr>
          <a:xfrm>
            <a:off x="571500" y="291465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➢</a:t>
            </a:r>
            <a:endParaRPr/>
          </a:p>
        </p:txBody>
      </p:sp>
      <p:sp>
        <p:nvSpPr>
          <p:cNvPr id="231" name="Google Shape;231;p29"/>
          <p:cNvSpPr txBox="1"/>
          <p:nvPr/>
        </p:nvSpPr>
        <p:spPr>
          <a:xfrm>
            <a:off x="571500" y="406717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➢</a:t>
            </a:r>
            <a:endParaRPr/>
          </a:p>
        </p:txBody>
      </p:sp>
      <p:sp>
        <p:nvSpPr>
          <p:cNvPr id="232" name="Google Shape;232;p29"/>
          <p:cNvSpPr txBox="1"/>
          <p:nvPr/>
        </p:nvSpPr>
        <p:spPr>
          <a:xfrm>
            <a:off x="571500" y="521970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➢</a:t>
            </a:r>
            <a:endParaRPr/>
          </a:p>
        </p:txBody>
      </p:sp>
      <p:sp>
        <p:nvSpPr>
          <p:cNvPr id="233" name="Google Shape;233;p29"/>
          <p:cNvSpPr txBox="1"/>
          <p:nvPr/>
        </p:nvSpPr>
        <p:spPr>
          <a:xfrm>
            <a:off x="571500" y="485775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Machine Learning Shift</a:t>
            </a:r>
            <a:endParaRPr/>
          </a:p>
        </p:txBody>
      </p:sp>
      <p:sp>
        <p:nvSpPr>
          <p:cNvPr id="234" name="Google Shape;234;p29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76437"/>
            <a:ext cx="3492549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76437"/>
            <a:ext cx="3492549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76437"/>
            <a:ext cx="3492549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89075" y="227171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0"/>
          <p:cNvSpPr txBox="1"/>
          <p:nvPr/>
        </p:nvSpPr>
        <p:spPr>
          <a:xfrm>
            <a:off x="1162556" y="3319462"/>
            <a:ext cx="231028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Moving Averages</a:t>
            </a:r>
            <a:endParaRPr/>
          </a:p>
        </p:txBody>
      </p:sp>
      <p:sp>
        <p:nvSpPr>
          <p:cNvPr id="245" name="Google Shape;245;p30"/>
          <p:cNvSpPr txBox="1"/>
          <p:nvPr/>
        </p:nvSpPr>
        <p:spPr>
          <a:xfrm>
            <a:off x="866775" y="399573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SMA &amp; EMA: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Smooth out price data to identify the direction of the trend. EMA places more weight on recent data points.</a:t>
            </a:r>
            <a:endParaRPr/>
          </a:p>
        </p:txBody>
      </p:sp>
      <p:pic>
        <p:nvPicPr>
          <p:cNvPr descr="image.png" id="246" name="Google Shape;246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7375" y="227171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0"/>
          <p:cNvSpPr txBox="1"/>
          <p:nvPr/>
        </p:nvSpPr>
        <p:spPr>
          <a:xfrm>
            <a:off x="5885973" y="3319462"/>
            <a:ext cx="42005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RSI</a:t>
            </a:r>
            <a:endParaRPr/>
          </a:p>
        </p:txBody>
      </p:sp>
      <p:sp>
        <p:nvSpPr>
          <p:cNvPr id="248" name="Google Shape;248;p30"/>
          <p:cNvSpPr txBox="1"/>
          <p:nvPr/>
        </p:nvSpPr>
        <p:spPr>
          <a:xfrm>
            <a:off x="4645074" y="39957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Relative Strength Index: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A momentum oscillator that measures the speed and change of price movements to identify overbought or oversold conditions.</a:t>
            </a:r>
            <a:endParaRPr/>
          </a:p>
        </p:txBody>
      </p:sp>
      <p:pic>
        <p:nvPicPr>
          <p:cNvPr descr="image.png" id="249" name="Google Shape;249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45674" y="227171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0"/>
          <p:cNvSpPr txBox="1"/>
          <p:nvPr/>
        </p:nvSpPr>
        <p:spPr>
          <a:xfrm>
            <a:off x="9474249" y="3319462"/>
            <a:ext cx="800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MACD</a:t>
            </a:r>
            <a:endParaRPr/>
          </a:p>
        </p:txBody>
      </p:sp>
      <p:sp>
        <p:nvSpPr>
          <p:cNvPr id="251" name="Google Shape;251;p30"/>
          <p:cNvSpPr txBox="1"/>
          <p:nvPr/>
        </p:nvSpPr>
        <p:spPr>
          <a:xfrm>
            <a:off x="8423374" y="39957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Moving Average Convergence Divergence: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A trend-following momentum indicator that shows the relationship between two moving averages of a price.</a:t>
            </a:r>
            <a:endParaRPr/>
          </a:p>
        </p:txBody>
      </p:sp>
      <p:pic>
        <p:nvPicPr>
          <p:cNvPr descr="image.png" id="252" name="Google Shape;252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89100" y="24717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67400" y="24717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17124" y="247173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Feature Engineering: Technical Indicators</a:t>
            </a:r>
            <a:endParaRPr/>
          </a:p>
        </p:txBody>
      </p:sp>
      <p:sp>
        <p:nvSpPr>
          <p:cNvPr id="256" name="Google Shape;256;p30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1"/>
          <p:cNvSpPr txBox="1"/>
          <p:nvPr/>
        </p:nvSpPr>
        <p:spPr>
          <a:xfrm>
            <a:off x="571500" y="571500"/>
            <a:ext cx="54006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Deep Learning: LSTM</a:t>
            </a:r>
            <a:endParaRPr/>
          </a:p>
        </p:txBody>
      </p:sp>
      <p:sp>
        <p:nvSpPr>
          <p:cNvPr id="263" name="Google Shape;263;p31"/>
          <p:cNvSpPr/>
          <p:nvPr/>
        </p:nvSpPr>
        <p:spPr>
          <a:xfrm>
            <a:off x="571500" y="1295400"/>
            <a:ext cx="51435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1"/>
          <p:cNvSpPr txBox="1"/>
          <p:nvPr/>
        </p:nvSpPr>
        <p:spPr>
          <a:xfrm>
            <a:off x="1528762" y="1695450"/>
            <a:ext cx="339042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Long Short-Term Memory</a:t>
            </a:r>
            <a:endParaRPr/>
          </a:p>
        </p:txBody>
      </p:sp>
      <p:sp>
        <p:nvSpPr>
          <p:cNvPr id="265" name="Google Shape;265;p31"/>
          <p:cNvSpPr txBox="1"/>
          <p:nvPr/>
        </p:nvSpPr>
        <p:spPr>
          <a:xfrm>
            <a:off x="571500" y="2371725"/>
            <a:ext cx="5143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Standard RNNs suffer from the "vanishing gradient" problem, making them forget early data in long sequences. LSTMs solve this.</a:t>
            </a:r>
            <a:endParaRPr/>
          </a:p>
        </p:txBody>
      </p:sp>
      <p:sp>
        <p:nvSpPr>
          <p:cNvPr id="266" name="Google Shape;266;p31"/>
          <p:cNvSpPr txBox="1"/>
          <p:nvPr/>
        </p:nvSpPr>
        <p:spPr>
          <a:xfrm>
            <a:off x="571500" y="3857625"/>
            <a:ext cx="5143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They are designed specifically to learn long-term dependencies, making them perfect for time-series data where context from 50 days ago might influence today's price.</a:t>
            </a:r>
            <a:endParaRPr/>
          </a:p>
        </p:txBody>
      </p:sp>
      <p:sp>
        <p:nvSpPr>
          <p:cNvPr id="267" name="Google Shape;267;p31"/>
          <p:cNvSpPr txBox="1"/>
          <p:nvPr/>
        </p:nvSpPr>
        <p:spPr>
          <a:xfrm>
            <a:off x="571500" y="5648325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Key Advantage: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The ability to selectively remember or forget information.</a:t>
            </a:r>
            <a:endParaRPr/>
          </a:p>
        </p:txBody>
      </p:sp>
      <p:pic>
        <p:nvPicPr>
          <p:cNvPr id="268" name="Google Shape;26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1100" y="1314450"/>
            <a:ext cx="6512725" cy="49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5025" y="1627175"/>
            <a:ext cx="8042626" cy="450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475" y="2205012"/>
            <a:ext cx="3492549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3325" y="2313692"/>
            <a:ext cx="870850" cy="77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2"/>
          <p:cNvSpPr txBox="1"/>
          <p:nvPr/>
        </p:nvSpPr>
        <p:spPr>
          <a:xfrm>
            <a:off x="764225" y="317505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Forget Gate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7" name="Google Shape;277;p32"/>
          <p:cNvSpPr txBox="1"/>
          <p:nvPr/>
        </p:nvSpPr>
        <p:spPr>
          <a:xfrm>
            <a:off x="618750" y="4340775"/>
            <a:ext cx="30000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Decides what information from the previous cell state should be thrown away or kept. It looks at the previous hidden state and current input.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8" name="Google Shape;278;p32"/>
          <p:cNvSpPr txBox="1"/>
          <p:nvPr/>
        </p:nvSpPr>
        <p:spPr>
          <a:xfrm>
            <a:off x="2989050" y="436400"/>
            <a:ext cx="621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Inside the LSTM Cell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4155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0774" y="1310550"/>
            <a:ext cx="3492549" cy="402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3"/>
          <p:cNvSpPr txBox="1"/>
          <p:nvPr/>
        </p:nvSpPr>
        <p:spPr>
          <a:xfrm>
            <a:off x="1167050" y="3429000"/>
            <a:ext cx="30000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Decides which new information is stored in the cell state. It updates the state with relevant new data from the current time step.</a:t>
            </a:r>
            <a:endParaRPr/>
          </a:p>
        </p:txBody>
      </p:sp>
      <p:pic>
        <p:nvPicPr>
          <p:cNvPr descr="image.png" id="285" name="Google Shape;28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8450" y="1514448"/>
            <a:ext cx="792325" cy="79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3"/>
          <p:cNvSpPr txBox="1"/>
          <p:nvPr/>
        </p:nvSpPr>
        <p:spPr>
          <a:xfrm>
            <a:off x="1167050" y="244637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</a:t>
            </a:r>
            <a:r>
              <a:rPr lang="en-US" sz="2100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nput Gate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87" name="Google Shape;28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3325" y="831275"/>
            <a:ext cx="7540325" cy="500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4155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9750" y="1681981"/>
            <a:ext cx="1185900" cy="118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774" y="1414462"/>
            <a:ext cx="3492549" cy="402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4"/>
          <p:cNvSpPr txBox="1"/>
          <p:nvPr/>
        </p:nvSpPr>
        <p:spPr>
          <a:xfrm>
            <a:off x="1167050" y="3532925"/>
            <a:ext cx="30000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Decides what the next hidden state should be. This hidden state contains information on previous inputs and is used for predictions.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295" name="Google Shape;29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43626" y="1817038"/>
            <a:ext cx="1030200" cy="91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 txBox="1"/>
          <p:nvPr/>
        </p:nvSpPr>
        <p:spPr>
          <a:xfrm>
            <a:off x="1167050" y="2878913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Output Gate</a:t>
            </a:r>
            <a:endParaRPr/>
          </a:p>
        </p:txBody>
      </p:sp>
      <p:pic>
        <p:nvPicPr>
          <p:cNvPr id="297" name="Google Shape;297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1246900"/>
            <a:ext cx="7172325" cy="459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5"/>
          <p:cNvSpPr/>
          <p:nvPr/>
        </p:nvSpPr>
        <p:spPr>
          <a:xfrm>
            <a:off x="1727820" y="40671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381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5"/>
          <p:cNvSpPr/>
          <p:nvPr/>
        </p:nvSpPr>
        <p:spPr>
          <a:xfrm>
            <a:off x="4563740" y="40671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381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5"/>
          <p:cNvSpPr/>
          <p:nvPr/>
        </p:nvSpPr>
        <p:spPr>
          <a:xfrm>
            <a:off x="7399659" y="40671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381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5"/>
          <p:cNvSpPr/>
          <p:nvPr/>
        </p:nvSpPr>
        <p:spPr>
          <a:xfrm>
            <a:off x="10235579" y="40671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381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5"/>
          <p:cNvSpPr/>
          <p:nvPr/>
        </p:nvSpPr>
        <p:spPr>
          <a:xfrm>
            <a:off x="571500" y="4162425"/>
            <a:ext cx="11049000" cy="381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5"/>
          <p:cNvSpPr txBox="1"/>
          <p:nvPr/>
        </p:nvSpPr>
        <p:spPr>
          <a:xfrm>
            <a:off x="507968" y="4752975"/>
            <a:ext cx="26683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Ingestion</a:t>
            </a:r>
            <a:endParaRPr/>
          </a:p>
        </p:txBody>
      </p:sp>
      <p:sp>
        <p:nvSpPr>
          <p:cNvPr id="309" name="Google Shape;309;p35"/>
          <p:cNvSpPr txBox="1"/>
          <p:nvPr/>
        </p:nvSpPr>
        <p:spPr>
          <a:xfrm>
            <a:off x="571500" y="5286375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Fetching OHLCV data via APIs (Yahoo Finance, Alpha Vantage).</a:t>
            </a:r>
            <a:endParaRPr/>
          </a:p>
        </p:txBody>
      </p:sp>
      <p:sp>
        <p:nvSpPr>
          <p:cNvPr id="310" name="Google Shape;310;p35"/>
          <p:cNvSpPr txBox="1"/>
          <p:nvPr/>
        </p:nvSpPr>
        <p:spPr>
          <a:xfrm>
            <a:off x="3343888" y="1971675"/>
            <a:ext cx="26683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Cleaning</a:t>
            </a:r>
            <a:endParaRPr/>
          </a:p>
        </p:txBody>
      </p:sp>
      <p:sp>
        <p:nvSpPr>
          <p:cNvPr id="311" name="Google Shape;311;p35"/>
          <p:cNvSpPr txBox="1"/>
          <p:nvPr/>
        </p:nvSpPr>
        <p:spPr>
          <a:xfrm>
            <a:off x="3407419" y="2505075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Handling missing values, removing outliers, and smoothing noise.</a:t>
            </a:r>
            <a:endParaRPr/>
          </a:p>
        </p:txBody>
      </p:sp>
      <p:sp>
        <p:nvSpPr>
          <p:cNvPr id="312" name="Google Shape;312;p35"/>
          <p:cNvSpPr txBox="1"/>
          <p:nvPr/>
        </p:nvSpPr>
        <p:spPr>
          <a:xfrm>
            <a:off x="6179808" y="4752975"/>
            <a:ext cx="26683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Windowing</a:t>
            </a:r>
            <a:endParaRPr/>
          </a:p>
        </p:txBody>
      </p:sp>
      <p:sp>
        <p:nvSpPr>
          <p:cNvPr id="313" name="Google Shape;313;p35"/>
          <p:cNvSpPr txBox="1"/>
          <p:nvPr/>
        </p:nvSpPr>
        <p:spPr>
          <a:xfrm>
            <a:off x="6243339" y="5286375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Creating sequences (e.g., using past 60 days to predict day 61).</a:t>
            </a:r>
            <a:endParaRPr/>
          </a:p>
        </p:txBody>
      </p:sp>
      <p:sp>
        <p:nvSpPr>
          <p:cNvPr id="314" name="Google Shape;314;p35"/>
          <p:cNvSpPr txBox="1"/>
          <p:nvPr/>
        </p:nvSpPr>
        <p:spPr>
          <a:xfrm>
            <a:off x="9015728" y="1971675"/>
            <a:ext cx="26683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Normalization</a:t>
            </a:r>
            <a:endParaRPr/>
          </a:p>
        </p:txBody>
      </p:sp>
      <p:sp>
        <p:nvSpPr>
          <p:cNvPr id="315" name="Google Shape;315;p35"/>
          <p:cNvSpPr txBox="1"/>
          <p:nvPr/>
        </p:nvSpPr>
        <p:spPr>
          <a:xfrm>
            <a:off x="9079259" y="2505075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Scaling data (MinMax 0-1) to ensure faster model convergence.</a:t>
            </a:r>
            <a:endParaRPr/>
          </a:p>
        </p:txBody>
      </p:sp>
      <p:sp>
        <p:nvSpPr>
          <p:cNvPr id="316" name="Google Shape;316;p3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Data Pipeline Strategy</a:t>
            </a:r>
            <a:endParaRPr/>
          </a:p>
        </p:txBody>
      </p:sp>
      <p:sp>
        <p:nvSpPr>
          <p:cNvPr id="317" name="Google Shape;317;p35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22127"/>
            <a:ext cx="3492549" cy="3937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22127"/>
            <a:ext cx="3492549" cy="3937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22127"/>
            <a:ext cx="3492549" cy="3937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6827" y="3679477"/>
            <a:ext cx="1581745" cy="7624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71802" y="3679477"/>
            <a:ext cx="1448395" cy="700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21514" y="3679477"/>
            <a:ext cx="1705570" cy="803969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6"/>
          <p:cNvSpPr txBox="1"/>
          <p:nvPr/>
        </p:nvSpPr>
        <p:spPr>
          <a:xfrm>
            <a:off x="1937652" y="2317402"/>
            <a:ext cx="76009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RMSE</a:t>
            </a:r>
            <a:endParaRPr/>
          </a:p>
        </p:txBody>
      </p:sp>
      <p:sp>
        <p:nvSpPr>
          <p:cNvPr id="330" name="Google Shape;330;p36"/>
          <p:cNvSpPr txBox="1"/>
          <p:nvPr/>
        </p:nvSpPr>
        <p:spPr>
          <a:xfrm>
            <a:off x="1246137" y="2993677"/>
            <a:ext cx="2143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Root Mean Squared Error</a:t>
            </a:r>
            <a:endParaRPr/>
          </a:p>
        </p:txBody>
      </p:sp>
      <p:sp>
        <p:nvSpPr>
          <p:cNvPr id="331" name="Google Shape;331;p36"/>
          <p:cNvSpPr txBox="1"/>
          <p:nvPr/>
        </p:nvSpPr>
        <p:spPr>
          <a:xfrm>
            <a:off x="866775" y="4822924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Penalizes larger errors more heavily.</a:t>
            </a:r>
            <a:endParaRPr/>
          </a:p>
        </p:txBody>
      </p:sp>
      <p:sp>
        <p:nvSpPr>
          <p:cNvPr id="332" name="Google Shape;332;p36"/>
          <p:cNvSpPr txBox="1"/>
          <p:nvPr/>
        </p:nvSpPr>
        <p:spPr>
          <a:xfrm>
            <a:off x="5800963" y="2317402"/>
            <a:ext cx="59007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MAE</a:t>
            </a:r>
            <a:endParaRPr/>
          </a:p>
        </p:txBody>
      </p:sp>
      <p:sp>
        <p:nvSpPr>
          <p:cNvPr id="333" name="Google Shape;333;p36"/>
          <p:cNvSpPr txBox="1"/>
          <p:nvPr/>
        </p:nvSpPr>
        <p:spPr>
          <a:xfrm>
            <a:off x="5229225" y="2993677"/>
            <a:ext cx="1733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Mean Absolute Error</a:t>
            </a:r>
            <a:endParaRPr/>
          </a:p>
        </p:txBody>
      </p:sp>
      <p:sp>
        <p:nvSpPr>
          <p:cNvPr id="334" name="Google Shape;334;p36"/>
          <p:cNvSpPr txBox="1"/>
          <p:nvPr/>
        </p:nvSpPr>
        <p:spPr>
          <a:xfrm>
            <a:off x="4691062" y="4761160"/>
            <a:ext cx="2809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Average magnitude of the errors.</a:t>
            </a:r>
            <a:endParaRPr/>
          </a:p>
        </p:txBody>
      </p:sp>
      <p:sp>
        <p:nvSpPr>
          <p:cNvPr id="335" name="Google Shape;335;p36"/>
          <p:cNvSpPr txBox="1"/>
          <p:nvPr/>
        </p:nvSpPr>
        <p:spPr>
          <a:xfrm>
            <a:off x="9494252" y="2317402"/>
            <a:ext cx="76009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MAPE</a:t>
            </a:r>
            <a:endParaRPr/>
          </a:p>
        </p:txBody>
      </p:sp>
      <p:sp>
        <p:nvSpPr>
          <p:cNvPr id="336" name="Google Shape;336;p36"/>
          <p:cNvSpPr txBox="1"/>
          <p:nvPr/>
        </p:nvSpPr>
        <p:spPr>
          <a:xfrm>
            <a:off x="8497937" y="2993677"/>
            <a:ext cx="2752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Mean Absolute Percentage Error</a:t>
            </a:r>
            <a:endParaRPr/>
          </a:p>
        </p:txBody>
      </p:sp>
      <p:sp>
        <p:nvSpPr>
          <p:cNvPr id="337" name="Google Shape;337;p36"/>
          <p:cNvSpPr txBox="1"/>
          <p:nvPr/>
        </p:nvSpPr>
        <p:spPr>
          <a:xfrm>
            <a:off x="8423374" y="4864447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Error represented as a percentage.</a:t>
            </a:r>
            <a:endParaRPr/>
          </a:p>
        </p:txBody>
      </p:sp>
      <p:pic>
        <p:nvPicPr>
          <p:cNvPr descr="image.png" id="338" name="Google Shape;338;p3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22077" y="3774727"/>
            <a:ext cx="1391245" cy="5719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3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67052" y="3774727"/>
            <a:ext cx="1257895" cy="510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3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116764" y="3774727"/>
            <a:ext cx="1515070" cy="61346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Evaluation Metrics</a:t>
            </a:r>
            <a:endParaRPr/>
          </a:p>
        </p:txBody>
      </p:sp>
      <p:sp>
        <p:nvSpPr>
          <p:cNvPr id="342" name="Google Shape;342;p36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7" name="Google Shape;34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4785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85737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7"/>
          <p:cNvSpPr txBox="1"/>
          <p:nvPr/>
        </p:nvSpPr>
        <p:spPr>
          <a:xfrm>
            <a:off x="6381750" y="1847850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Interpreting the Chart</a:t>
            </a:r>
            <a:endParaRPr/>
          </a:p>
        </p:txBody>
      </p:sp>
      <p:sp>
        <p:nvSpPr>
          <p:cNvPr id="351" name="Google Shape;351;p37"/>
          <p:cNvSpPr txBox="1"/>
          <p:nvPr/>
        </p:nvSpPr>
        <p:spPr>
          <a:xfrm>
            <a:off x="6381750" y="25241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The blue line represents the actual historical stock price, while the orange/red line shows the model's predictions.</a:t>
            </a:r>
            <a:endParaRPr/>
          </a:p>
        </p:txBody>
      </p:sp>
      <p:sp>
        <p:nvSpPr>
          <p:cNvPr id="352" name="Google Shape;352;p37"/>
          <p:cNvSpPr txBox="1"/>
          <p:nvPr/>
        </p:nvSpPr>
        <p:spPr>
          <a:xfrm>
            <a:off x="6696075" y="36671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353" name="Google Shape;353;p37"/>
          <p:cNvSpPr txBox="1"/>
          <p:nvPr/>
        </p:nvSpPr>
        <p:spPr>
          <a:xfrm>
            <a:off x="6762750" y="3667125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Lag Effect: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Notice if the prediction line merely "shadows" the actual price by one day. This indicates the model is just memorizing the previous value.</a:t>
            </a:r>
            <a:endParaRPr/>
          </a:p>
        </p:txBody>
      </p:sp>
      <p:sp>
        <p:nvSpPr>
          <p:cNvPr id="354" name="Google Shape;354;p37"/>
          <p:cNvSpPr txBox="1"/>
          <p:nvPr/>
        </p:nvSpPr>
        <p:spPr>
          <a:xfrm>
            <a:off x="6696075" y="45815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355" name="Google Shape;355;p37"/>
          <p:cNvSpPr txBox="1"/>
          <p:nvPr/>
        </p:nvSpPr>
        <p:spPr>
          <a:xfrm>
            <a:off x="6762750" y="4581525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Trend Capture: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A good model captures the general upward or downward momentum, even if the exact price point is slightly off.</a:t>
            </a:r>
            <a:endParaRPr/>
          </a:p>
        </p:txBody>
      </p:sp>
      <p:sp>
        <p:nvSpPr>
          <p:cNvPr id="356" name="Google Shape;356;p3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Visualization: Predicted vs. Actual</a:t>
            </a:r>
            <a:endParaRPr/>
          </a:p>
        </p:txBody>
      </p:sp>
      <p:sp>
        <p:nvSpPr>
          <p:cNvPr id="357" name="Google Shape;357;p37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2" name="Google Shape;36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6500"/>
            <a:ext cx="52387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76500"/>
            <a:ext cx="523875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8"/>
          <p:cNvSpPr txBox="1"/>
          <p:nvPr/>
        </p:nvSpPr>
        <p:spPr>
          <a:xfrm>
            <a:off x="962025" y="2867025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86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78B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Transformers &amp; Attention</a:t>
            </a:r>
            <a:endParaRPr/>
          </a:p>
        </p:txBody>
      </p:sp>
      <p:sp>
        <p:nvSpPr>
          <p:cNvPr id="366" name="Google Shape;366;p38"/>
          <p:cNvSpPr txBox="1"/>
          <p:nvPr/>
        </p:nvSpPr>
        <p:spPr>
          <a:xfrm>
            <a:off x="962025" y="3400425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Models like TimeGPT and temporal transformers use "Attention Mechanisms" to weigh the importance of different time steps more effectively than LSTMs, enabling parallel processing and capturing even longer dependencies.</a:t>
            </a:r>
            <a:endParaRPr/>
          </a:p>
        </p:txBody>
      </p:sp>
      <p:sp>
        <p:nvSpPr>
          <p:cNvPr id="367" name="Google Shape;367;p38"/>
          <p:cNvSpPr txBox="1"/>
          <p:nvPr/>
        </p:nvSpPr>
        <p:spPr>
          <a:xfrm>
            <a:off x="6772275" y="2867025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86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472B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Sentiment Analysis</a:t>
            </a:r>
            <a:endParaRPr/>
          </a:p>
        </p:txBody>
      </p:sp>
      <p:sp>
        <p:nvSpPr>
          <p:cNvPr id="368" name="Google Shape;368;p38"/>
          <p:cNvSpPr txBox="1"/>
          <p:nvPr/>
        </p:nvSpPr>
        <p:spPr>
          <a:xfrm>
            <a:off x="6772275" y="3400425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Hybrid models are now integrating Natural Language Processing (NLP) to analyze news headlines, tweets, and earnings call transcripts. This adds a layer of "market sentiment" to the raw price data.</a:t>
            </a:r>
            <a:endParaRPr/>
          </a:p>
        </p:txBody>
      </p:sp>
      <p:pic>
        <p:nvPicPr>
          <p:cNvPr descr="image.png" id="369" name="Google Shape;369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90512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90512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Future Horizons: Beyond LSTM</a:t>
            </a:r>
            <a:endParaRPr/>
          </a:p>
        </p:txBody>
      </p:sp>
      <p:sp>
        <p:nvSpPr>
          <p:cNvPr id="372" name="Google Shape;372;p38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7" name="Google Shape;37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76850" cy="2594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032795"/>
            <a:ext cx="5276850" cy="259452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9"/>
          <p:cNvSpPr txBox="1"/>
          <p:nvPr/>
        </p:nvSpPr>
        <p:spPr>
          <a:xfrm>
            <a:off x="628650" y="2179608"/>
            <a:ext cx="554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/>
          </a:p>
        </p:txBody>
      </p:sp>
      <p:sp>
        <p:nvSpPr>
          <p:cNvPr id="381" name="Google Shape;381;p39"/>
          <p:cNvSpPr txBox="1"/>
          <p:nvPr/>
        </p:nvSpPr>
        <p:spPr>
          <a:xfrm>
            <a:off x="6334125" y="1051768"/>
            <a:ext cx="554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Future Directions</a:t>
            </a:r>
            <a:endParaRPr/>
          </a:p>
        </p:txBody>
      </p:sp>
      <p:sp>
        <p:nvSpPr>
          <p:cNvPr id="382" name="Google Shape;382;p39"/>
          <p:cNvSpPr txBox="1"/>
          <p:nvPr/>
        </p:nvSpPr>
        <p:spPr>
          <a:xfrm>
            <a:off x="866775" y="2565945"/>
            <a:ext cx="499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Stock prediction is hard due to noise and non-stationarity.</a:t>
            </a:r>
            <a:endParaRPr/>
          </a:p>
        </p:txBody>
      </p:sp>
      <p:sp>
        <p:nvSpPr>
          <p:cNvPr id="383" name="Google Shape;383;p39"/>
          <p:cNvSpPr txBox="1"/>
          <p:nvPr/>
        </p:nvSpPr>
        <p:spPr>
          <a:xfrm>
            <a:off x="866775" y="3366045"/>
            <a:ext cx="499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Feature engineering and data cleaning are more critical than model choice.</a:t>
            </a:r>
            <a:endParaRPr/>
          </a:p>
        </p:txBody>
      </p:sp>
      <p:sp>
        <p:nvSpPr>
          <p:cNvPr id="384" name="Google Shape;384;p39"/>
          <p:cNvSpPr txBox="1"/>
          <p:nvPr/>
        </p:nvSpPr>
        <p:spPr>
          <a:xfrm>
            <a:off x="866775" y="4166145"/>
            <a:ext cx="499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LSTMs and Transformers are currently SOTA for time series.</a:t>
            </a:r>
            <a:endParaRPr/>
          </a:p>
        </p:txBody>
      </p:sp>
      <p:sp>
        <p:nvSpPr>
          <p:cNvPr id="385" name="Google Shape;385;p39"/>
          <p:cNvSpPr txBox="1"/>
          <p:nvPr/>
        </p:nvSpPr>
        <p:spPr>
          <a:xfrm>
            <a:off x="866775" y="4966245"/>
            <a:ext cx="4991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Always validate with Walk-Forward backtesting.</a:t>
            </a:r>
            <a:endParaRPr/>
          </a:p>
        </p:txBody>
      </p:sp>
      <p:pic>
        <p:nvPicPr>
          <p:cNvPr descr="image.png" id="386" name="Google Shape;386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15430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9"/>
          <p:cNvSpPr txBox="1"/>
          <p:nvPr/>
        </p:nvSpPr>
        <p:spPr>
          <a:xfrm>
            <a:off x="6629400" y="2305050"/>
            <a:ext cx="492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High Frequency Trading (HFT)</a:t>
            </a:r>
            <a:endParaRPr/>
          </a:p>
        </p:txBody>
      </p:sp>
      <p:sp>
        <p:nvSpPr>
          <p:cNvPr id="388" name="Google Shape;388;p39"/>
          <p:cNvSpPr txBox="1"/>
          <p:nvPr/>
        </p:nvSpPr>
        <p:spPr>
          <a:xfrm>
            <a:off x="6629400" y="2746920"/>
            <a:ext cx="468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Implementing FPGA-based inference for microsecond latency.</a:t>
            </a:r>
            <a:endParaRPr/>
          </a:p>
        </p:txBody>
      </p:sp>
      <p:pic>
        <p:nvPicPr>
          <p:cNvPr descr="image.png" id="389" name="Google Shape;389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43280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9"/>
          <p:cNvSpPr txBox="1"/>
          <p:nvPr/>
        </p:nvSpPr>
        <p:spPr>
          <a:xfrm>
            <a:off x="6629400" y="5090070"/>
            <a:ext cx="492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Graph Neural Networks</a:t>
            </a:r>
            <a:endParaRPr/>
          </a:p>
        </p:txBody>
      </p:sp>
      <p:sp>
        <p:nvSpPr>
          <p:cNvPr id="391" name="Google Shape;391;p39"/>
          <p:cNvSpPr txBox="1"/>
          <p:nvPr/>
        </p:nvSpPr>
        <p:spPr>
          <a:xfrm>
            <a:off x="6629400" y="5531941"/>
            <a:ext cx="468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Modeling relationships between companies (e.g., Apple's supply chain) to predict shock propagation.</a:t>
            </a:r>
            <a:endParaRPr/>
          </a:p>
        </p:txBody>
      </p:sp>
      <p:sp>
        <p:nvSpPr>
          <p:cNvPr id="392" name="Google Shape;392;p39"/>
          <p:cNvSpPr txBox="1"/>
          <p:nvPr/>
        </p:nvSpPr>
        <p:spPr>
          <a:xfrm>
            <a:off x="771525" y="230832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Summary &amp; Future Scope</a:t>
            </a:r>
            <a:endParaRPr/>
          </a:p>
        </p:txBody>
      </p:sp>
      <p:sp>
        <p:nvSpPr>
          <p:cNvPr id="393" name="Google Shape;393;p39"/>
          <p:cNvSpPr/>
          <p:nvPr/>
        </p:nvSpPr>
        <p:spPr>
          <a:xfrm>
            <a:off x="581025" y="230832"/>
            <a:ext cx="47700" cy="439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4" name="Google Shape;394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256594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336604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16614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96624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8" name="Google Shape;398;p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62750" y="16764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3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24650" y="4461420"/>
            <a:ext cx="3810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4155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0"/>
          <p:cNvSpPr txBox="1"/>
          <p:nvPr/>
        </p:nvSpPr>
        <p:spPr>
          <a:xfrm>
            <a:off x="3595225" y="2701650"/>
            <a:ext cx="52812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7700" u="sng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1" i="1" sz="7700" u="sng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